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2651760"/>
            <a:ext cx="64008" cy="1280160"/>
          </a:xfrm>
          <a:prstGeom prst="roundRect">
            <a:avLst>
              <a:gd name="adj" fmla="val 5000"/>
            </a:avLst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Helvetica Neue"/>
              </a:defRPr>
            </a:pPr>
            <a:r>
              <a:t>TradeTriad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3832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CBD0DC"/>
                </a:solidFill>
                <a:latin typeface="Helvetica Neue"/>
              </a:defRPr>
            </a:pPr>
            <a:r>
              <a:t>A 股波段交易情报管线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029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0A0"/>
                </a:solidFill>
                <a:latin typeface="Helvetica Neue"/>
              </a:defRPr>
            </a:pPr>
            <a:r>
              <a:t>v3.0  ·  OpenClaw  ·  5 个 Skill  ·  全自动</a:t>
            </a:r>
          </a:p>
        </p:txBody>
      </p:sp>
      <p:sp>
        <p:nvSpPr>
          <p:cNvPr id="6" name="Oval 5"/>
          <p:cNvSpPr/>
          <p:nvPr/>
        </p:nvSpPr>
        <p:spPr>
          <a:xfrm>
            <a:off x="7498079" y="2926080"/>
            <a:ext cx="548640" cy="548640"/>
          </a:xfrm>
          <a:prstGeom prst="ellipse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24927" y="3611880"/>
            <a:ext cx="694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90A0"/>
                </a:solidFill>
                <a:latin typeface="Helvetica Neue"/>
              </a:defRPr>
            </a:pPr>
            <a:r>
              <a:t>抓取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9" y="2971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A90A0"/>
                </a:solidFill>
                <a:latin typeface="Helvetica Neue"/>
              </a:defRPr>
            </a:pPr>
            <a:r>
              <a:t>›</a:t>
            </a:r>
          </a:p>
        </p:txBody>
      </p:sp>
      <p:sp>
        <p:nvSpPr>
          <p:cNvPr id="9" name="Oval 8"/>
          <p:cNvSpPr/>
          <p:nvPr/>
        </p:nvSpPr>
        <p:spPr>
          <a:xfrm>
            <a:off x="8412480" y="2926080"/>
            <a:ext cx="548640" cy="54864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39328" y="3611880"/>
            <a:ext cx="694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90A0"/>
                </a:solidFill>
                <a:latin typeface="Helvetica Neue"/>
              </a:defRPr>
            </a:pPr>
            <a:r>
              <a:t>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2971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A90A0"/>
                </a:solidFill>
                <a:latin typeface="Helvetica Neue"/>
              </a:defRPr>
            </a:pPr>
            <a:r>
              <a:t>›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0" y="2926080"/>
            <a:ext cx="548640" cy="54864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3728" y="3611880"/>
            <a:ext cx="694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90A0"/>
                </a:solidFill>
                <a:latin typeface="Helvetica Neue"/>
              </a:defRPr>
            </a:pPr>
            <a:r>
              <a:t>计划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2971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A90A0"/>
                </a:solidFill>
                <a:latin typeface="Helvetica Neue"/>
              </a:defRPr>
            </a:pPr>
            <a:r>
              <a:t>›</a:t>
            </a:r>
          </a:p>
        </p:txBody>
      </p:sp>
      <p:sp>
        <p:nvSpPr>
          <p:cNvPr id="15" name="Oval 14"/>
          <p:cNvSpPr/>
          <p:nvPr/>
        </p:nvSpPr>
        <p:spPr>
          <a:xfrm>
            <a:off x="10241280" y="2926080"/>
            <a:ext cx="548640" cy="548640"/>
          </a:xfrm>
          <a:prstGeom prst="ellipse">
            <a:avLst/>
          </a:prstGeom>
          <a:solidFill>
            <a:srgbClr val="E8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68128" y="3611880"/>
            <a:ext cx="694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90A0"/>
                </a:solidFill>
                <a:latin typeface="Helvetica Neue"/>
              </a:defRPr>
            </a:pPr>
            <a:r>
              <a:t>风控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2971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A90A0"/>
                </a:solidFill>
                <a:latin typeface="Helvetica Neue"/>
              </a:defRPr>
            </a:pPr>
            <a:r>
              <a:t>›</a:t>
            </a:r>
          </a:p>
        </p:txBody>
      </p:sp>
      <p:sp>
        <p:nvSpPr>
          <p:cNvPr id="18" name="Oval 17"/>
          <p:cNvSpPr/>
          <p:nvPr/>
        </p:nvSpPr>
        <p:spPr>
          <a:xfrm>
            <a:off x="11155680" y="292608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82528" y="3611880"/>
            <a:ext cx="694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90A0"/>
                </a:solidFill>
                <a:latin typeface="Helvetica Neue"/>
              </a:defRPr>
            </a:pPr>
            <a:r>
              <a:t>展示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Helvetica Neue"/>
              </a:defRPr>
            </a:pPr>
            <a:r>
              <a:t>五阶段管线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868680"/>
            <a:ext cx="1463040" cy="36576"/>
          </a:xfrm>
          <a:prstGeom prst="roundRect">
            <a:avLst>
              <a:gd name="adj" fmla="val 5000"/>
            </a:avLst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2084831" cy="292608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70432" y="1783080"/>
            <a:ext cx="548640" cy="548640"/>
          </a:xfrm>
          <a:prstGeom prst="ellipse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14600"/>
            <a:ext cx="208483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Helvetica Neue"/>
              </a:defRPr>
            </a:pPr>
            <a:r>
              <a:t>抓取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1810511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A90A0"/>
                </a:solidFill>
                <a:latin typeface="Helvetica Neue"/>
              </a:defRPr>
            </a:pPr>
            <a:r>
              <a:t>三源抓取 → 去重 → 六维评分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42031" y="256032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A90A0"/>
                </a:solidFill>
                <a:latin typeface="Helvetica Neue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199" y="1463040"/>
            <a:ext cx="2084831" cy="292608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56431" y="1783080"/>
            <a:ext cx="548640" cy="54864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199" y="2514600"/>
            <a:ext cx="208483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Helvetica Neue"/>
              </a:defRPr>
            </a:pPr>
            <a:r>
              <a:t>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59" y="3108960"/>
            <a:ext cx="1810511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A90A0"/>
                </a:solidFill>
                <a:latin typeface="Helvetica Neue"/>
              </a:defRPr>
            </a:pPr>
            <a:r>
              <a:t>宏观×行业×资产 三层交叉验证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8030" y="256032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A90A0"/>
                </a:solidFill>
                <a:latin typeface="Helvetica Neue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198" y="1463040"/>
            <a:ext cx="2084831" cy="292608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42430" y="1783080"/>
            <a:ext cx="548640" cy="54864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198" y="2514600"/>
            <a:ext cx="208483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Helvetica Neue"/>
              </a:defRPr>
            </a:pPr>
            <a:r>
              <a:t>计划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58" y="3108960"/>
            <a:ext cx="1810511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A90A0"/>
                </a:solidFill>
                <a:latin typeface="Helvetica Neue"/>
              </a:defRPr>
            </a:pPr>
            <a:r>
              <a:t>标的映射 + 入场/止损/失效条件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29" y="256032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A90A0"/>
                </a:solidFill>
                <a:latin typeface="Helvetica Neue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197" y="1463040"/>
            <a:ext cx="2084831" cy="292608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28429" y="1783080"/>
            <a:ext cx="548640" cy="548640"/>
          </a:xfrm>
          <a:prstGeom prst="ellipse">
            <a:avLst/>
          </a:prstGeom>
          <a:solidFill>
            <a:srgbClr val="E8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197" y="2514600"/>
            <a:ext cx="208483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Helvetica Neue"/>
              </a:defRPr>
            </a:pPr>
            <a:r>
              <a:t>风控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57" y="3108960"/>
            <a:ext cx="1810511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A90A0"/>
                </a:solidFill>
                <a:latin typeface="Helvetica Neue"/>
              </a:defRPr>
            </a:pPr>
            <a:r>
              <a:t>7 条 veto 规则 独立审查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0028" y="256032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A90A0"/>
                </a:solidFill>
                <a:latin typeface="Helvetica Neue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196" y="1463040"/>
            <a:ext cx="2084831" cy="292608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314428" y="178308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196" y="2514600"/>
            <a:ext cx="208483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Helvetica Neue"/>
              </a:defRPr>
            </a:pPr>
            <a:r>
              <a:t>展示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56" y="3108960"/>
            <a:ext cx="1810511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A90A0"/>
                </a:solidFill>
                <a:latin typeface="Helvetica Neue"/>
              </a:defRPr>
            </a:pPr>
            <a:r>
              <a:t>自动打包 → 浏览器 Artifact Desk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754880"/>
            <a:ext cx="11274552" cy="54864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8006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A90A0"/>
                </a:solidFill>
                <a:latin typeface="Helvetica Neue"/>
              </a:defRPr>
            </a:pPr>
            <a:r>
              <a:t>triad-orchestrator 统一调度  ·  一个 runId 贯穿全程  ·  阶段失败自动记录  ·  UI 强制刷新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Helvetica Neue"/>
              </a:defRPr>
            </a:pPr>
            <a:r>
              <a:t>六维评分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868680"/>
            <a:ext cx="1280160" cy="36576"/>
          </a:xfrm>
          <a:prstGeom prst="roundRect">
            <a:avLst>
              <a:gd name="adj" fmla="val 5000"/>
            </a:avLst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4846320" cy="45720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380744"/>
            <a:ext cx="164592" cy="164592"/>
          </a:xfrm>
          <a:prstGeom prst="roundRect">
            <a:avLst>
              <a:gd name="adj" fmla="val 5000"/>
            </a:avLst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28930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0DC"/>
                </a:solidFill>
                <a:latin typeface="Helvetica Neue"/>
              </a:defRPr>
            </a:pPr>
            <a:r>
              <a:t>时效性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28930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4E9AF5"/>
                </a:solidFill>
                <a:latin typeface="Helvetica Neue"/>
              </a:defRPr>
            </a:pPr>
            <a:r>
              <a:t>×2.0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01368"/>
            <a:ext cx="4846320" cy="45720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1947672"/>
            <a:ext cx="164592" cy="164592"/>
          </a:xfrm>
          <a:prstGeom prst="roundRect">
            <a:avLst>
              <a:gd name="adj" fmla="val 5000"/>
            </a:avLst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185623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0DC"/>
                </a:solidFill>
                <a:latin typeface="Helvetica Neue"/>
              </a:defRPr>
            </a:pPr>
            <a:r>
              <a:t>影响力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85623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4E9AF5"/>
                </a:solidFill>
                <a:latin typeface="Helvetica Neue"/>
              </a:defRPr>
            </a:pPr>
            <a:r>
              <a:t>×2.5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368296"/>
            <a:ext cx="4846320" cy="45720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2514600"/>
            <a:ext cx="164592" cy="164592"/>
          </a:xfrm>
          <a:prstGeom prst="roundRect">
            <a:avLst>
              <a:gd name="adj" fmla="val 5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24231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0DC"/>
                </a:solidFill>
                <a:latin typeface="Helvetica Neue"/>
              </a:defRPr>
            </a:pPr>
            <a:r>
              <a:t>确定性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42316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34D399"/>
                </a:solidFill>
                <a:latin typeface="Helvetica Neue"/>
              </a:defRPr>
            </a:pPr>
            <a:r>
              <a:t>×2.0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935224"/>
            <a:ext cx="4846320" cy="45720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" y="3081528"/>
            <a:ext cx="164592" cy="164592"/>
          </a:xfrm>
          <a:prstGeom prst="roundRect">
            <a:avLst>
              <a:gd name="adj" fmla="val 5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29900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0DC"/>
                </a:solidFill>
                <a:latin typeface="Helvetica Neue"/>
              </a:defRPr>
            </a:pPr>
            <a:r>
              <a:t>相关度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99008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34D399"/>
                </a:solidFill>
                <a:latin typeface="Helvetica Neue"/>
              </a:defRPr>
            </a:pPr>
            <a:r>
              <a:t>×1.5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502152"/>
            <a:ext cx="4846320" cy="45720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8680" y="3648456"/>
            <a:ext cx="164592" cy="164592"/>
          </a:xfrm>
          <a:prstGeom prst="roundRect">
            <a:avLst>
              <a:gd name="adj" fmla="val 5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355701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0DC"/>
                </a:solidFill>
                <a:latin typeface="Helvetica Neue"/>
              </a:defRPr>
            </a:pPr>
            <a:r>
              <a:t>意外度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557016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F5A623"/>
                </a:solidFill>
                <a:latin typeface="Helvetica Neue"/>
              </a:defRPr>
            </a:pPr>
            <a:r>
              <a:t>×1.5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069080"/>
            <a:ext cx="4846320" cy="45720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68680" y="4215384"/>
            <a:ext cx="164592" cy="164592"/>
          </a:xfrm>
          <a:prstGeom prst="roundRect">
            <a:avLst>
              <a:gd name="adj" fmla="val 5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12394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0DC"/>
                </a:solidFill>
                <a:latin typeface="Helvetica Neue"/>
              </a:defRPr>
            </a:pPr>
            <a:r>
              <a:t>可交易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12394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F5A623"/>
                </a:solidFill>
                <a:latin typeface="Helvetica Neue"/>
              </a:defRPr>
            </a:pPr>
            <a:r>
              <a:t>×1.5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709160"/>
            <a:ext cx="4846320" cy="45720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7548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A90A0"/>
                </a:solidFill>
                <a:latin typeface="Helvetica Neue"/>
              </a:defRPr>
            </a:pPr>
            <a:r>
              <a:t>S≥85  A≥68 → 进入分析    B≥45  C&lt;45 → 归档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Helvetica Neue"/>
              </a:defRPr>
            </a:pPr>
            <a:r>
              <a:t>七条风控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868680"/>
            <a:ext cx="1280160" cy="36576"/>
          </a:xfrm>
          <a:prstGeom prst="roundRect">
            <a:avLst>
              <a:gd name="adj" fmla="val 5000"/>
            </a:avLst>
          </a:prstGeom>
          <a:solidFill>
            <a:srgbClr val="E8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00800" y="1234440"/>
            <a:ext cx="5029200" cy="45720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1289304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5D75"/>
                </a:solidFill>
                <a:latin typeface="Menlo"/>
              </a:defRPr>
            </a:pPr>
            <a:r>
              <a:t>V1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128930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0DC"/>
                </a:solidFill>
                <a:latin typeface="Helvetica Neue"/>
              </a:defRPr>
            </a:pPr>
            <a:r>
              <a:t>缺少标的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128930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8A90A0"/>
                </a:solidFill>
                <a:latin typeface="Menlo"/>
              </a:defRPr>
            </a:pPr>
            <a:r>
              <a:t>watch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1801368"/>
            <a:ext cx="5029200" cy="45720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185623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5D75"/>
                </a:solidFill>
                <a:latin typeface="Menlo"/>
              </a:defRPr>
            </a:pPr>
            <a:r>
              <a:t>V2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185623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0DC"/>
                </a:solidFill>
                <a:latin typeface="Helvetica Neue"/>
              </a:defRPr>
            </a:pPr>
            <a:r>
              <a:t>缺少失效条件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20" y="185623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8A90A0"/>
                </a:solidFill>
                <a:latin typeface="Menlo"/>
              </a:defRPr>
            </a:pPr>
            <a:r>
              <a:t>watch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2368296"/>
            <a:ext cx="5029200" cy="45720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242316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5D75"/>
                </a:solidFill>
                <a:latin typeface="Menlo"/>
              </a:defRPr>
            </a:pPr>
            <a:r>
              <a:t>V3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0" y="24231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0DC"/>
                </a:solidFill>
                <a:latin typeface="Helvetica Neue"/>
              </a:defRPr>
            </a:pPr>
            <a:r>
              <a:t>缺少技术确认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75520" y="242316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8A90A0"/>
                </a:solidFill>
                <a:latin typeface="Menlo"/>
              </a:defRPr>
            </a:pPr>
            <a:r>
              <a:t>watch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0" y="2935224"/>
            <a:ext cx="5029200" cy="45720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0" y="299008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5D75"/>
                </a:solidFill>
                <a:latin typeface="Menlo"/>
              </a:defRPr>
            </a:pPr>
            <a:r>
              <a:t>V4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32320" y="299008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0DC"/>
                </a:solidFill>
                <a:latin typeface="Helvetica Neue"/>
              </a:defRPr>
            </a:pPr>
            <a:r>
              <a:t>来源冲突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75520" y="299008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8A90A0"/>
                </a:solidFill>
                <a:latin typeface="Menlo"/>
              </a:defRPr>
            </a:pPr>
            <a:r>
              <a:t>watch/rej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0" y="3502152"/>
            <a:ext cx="5029200" cy="45720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0" y="355701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5D75"/>
                </a:solidFill>
                <a:latin typeface="Menlo"/>
              </a:defRPr>
            </a:pPr>
            <a:r>
              <a:t>V5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32320" y="355701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0DC"/>
                </a:solidFill>
                <a:latin typeface="Helvetica Neue"/>
              </a:defRPr>
            </a:pPr>
            <a:r>
              <a:t>流动性风险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75520" y="355701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8A90A0"/>
                </a:solidFill>
                <a:latin typeface="Menlo"/>
              </a:defRPr>
            </a:pPr>
            <a:r>
              <a:t>rej/watch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0" y="4069080"/>
            <a:ext cx="5029200" cy="45720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83680" y="4123944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5D75"/>
                </a:solidFill>
                <a:latin typeface="Menlo"/>
              </a:defRPr>
            </a:pPr>
            <a:r>
              <a:t>V6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32320" y="412394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0DC"/>
                </a:solidFill>
                <a:latin typeface="Helvetica Neue"/>
              </a:defRPr>
            </a:pPr>
            <a:r>
              <a:t>同向敞口集中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75520" y="412394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8A90A0"/>
                </a:solidFill>
                <a:latin typeface="Menlo"/>
              </a:defRPr>
            </a:pPr>
            <a:r>
              <a:t>watch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00800" y="4636008"/>
            <a:ext cx="5029200" cy="45720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83680" y="469087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5D75"/>
                </a:solidFill>
                <a:latin typeface="Menlo"/>
              </a:defRPr>
            </a:pPr>
            <a:r>
              <a:t>V7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32320" y="46908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0DC"/>
                </a:solidFill>
                <a:latin typeface="Helvetica Neue"/>
              </a:defRPr>
            </a:pPr>
            <a:r>
              <a:t>不可证伪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75520" y="469087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8A90A0"/>
                </a:solidFill>
                <a:latin typeface="Menlo"/>
              </a:defRPr>
            </a:pPr>
            <a:r>
              <a:t>rejected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0" y="4709160"/>
            <a:ext cx="5029200" cy="45720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858000" y="4818888"/>
            <a:ext cx="146304" cy="146304"/>
          </a:xfrm>
          <a:prstGeom prst="roundRect">
            <a:avLst>
              <a:gd name="adj" fmla="val 5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086600" y="47731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0A0"/>
                </a:solidFill>
                <a:latin typeface="Helvetica Neue"/>
              </a:defRPr>
            </a:pPr>
            <a:r>
              <a:t>approved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503920" y="4818888"/>
            <a:ext cx="146304" cy="146304"/>
          </a:xfrm>
          <a:prstGeom prst="roundRect">
            <a:avLst>
              <a:gd name="adj" fmla="val 5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732520" y="47731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0A0"/>
                </a:solidFill>
                <a:latin typeface="Helvetica Neue"/>
              </a:defRPr>
            </a:pPr>
            <a:r>
              <a:t>watch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149840" y="4818888"/>
            <a:ext cx="146304" cy="146304"/>
          </a:xfrm>
          <a:prstGeom prst="roundRect">
            <a:avLst>
              <a:gd name="adj" fmla="val 5000"/>
            </a:avLst>
          </a:prstGeom>
          <a:solidFill>
            <a:srgbClr val="E8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378440" y="47731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0A0"/>
                </a:solidFill>
                <a:latin typeface="Helvetica Neue"/>
              </a:defRPr>
            </a:pPr>
            <a:r>
              <a:t>rejected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Helvetica Neue"/>
              </a:defRPr>
            </a:pPr>
            <a:r>
              <a:t>TradeTriad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0" y="3291840"/>
            <a:ext cx="1188720" cy="36576"/>
          </a:xfrm>
          <a:prstGeom prst="roundRect">
            <a:avLst>
              <a:gd name="adj" fmla="val 5000"/>
            </a:avLst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A90A0"/>
                </a:solidFill>
                <a:latin typeface="Helvetica Neue"/>
              </a:defRPr>
            </a:pPr>
            <a:r>
              <a:t>从信息到判断，从判断到计划，从计划到风控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90A0"/>
                </a:solidFill>
                <a:latin typeface="Helvetica Neue"/>
              </a:defRPr>
            </a:pPr>
            <a:r>
              <a:t>5 Skills  ·  6 维评分  ·  7 条风控  ·  全自动管线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